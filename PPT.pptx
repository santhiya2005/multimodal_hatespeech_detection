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1" r:id="rId3"/>
    <p:sldId id="262" r:id="rId4"/>
    <p:sldId id="257" r:id="rId5"/>
    <p:sldId id="258" r:id="rId6"/>
    <p:sldId id="259" r:id="rId7"/>
    <p:sldId id="260" r:id="rId8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66" d="100"/>
          <a:sy n="66" d="100"/>
        </p:scale>
        <p:origin x="48" y="-12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CE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2944" y="1714476"/>
            <a:ext cx="2500330" cy="142876"/>
            <a:chOff x="0" y="0"/>
            <a:chExt cx="3557239" cy="20287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1778619" cy="202870"/>
              <a:chOff x="0" y="0"/>
              <a:chExt cx="351332" cy="4007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351332" cy="40073"/>
              </a:xfrm>
              <a:custGeom>
                <a:avLst/>
                <a:gdLst/>
                <a:ahLst/>
                <a:cxnLst/>
                <a:rect l="l" t="t" r="r" b="b"/>
                <a:pathLst>
                  <a:path w="351332" h="40073">
                    <a:moveTo>
                      <a:pt x="0" y="0"/>
                    </a:moveTo>
                    <a:lnTo>
                      <a:pt x="351332" y="0"/>
                    </a:lnTo>
                    <a:lnTo>
                      <a:pt x="351332" y="40073"/>
                    </a:lnTo>
                    <a:lnTo>
                      <a:pt x="0" y="40073"/>
                    </a:lnTo>
                    <a:close/>
                  </a:path>
                </a:pathLst>
              </a:custGeom>
              <a:solidFill>
                <a:srgbClr val="24817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351332" cy="781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778619" y="0"/>
              <a:ext cx="1778619" cy="202870"/>
              <a:chOff x="0" y="0"/>
              <a:chExt cx="351332" cy="40073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351332" cy="40073"/>
              </a:xfrm>
              <a:custGeom>
                <a:avLst/>
                <a:gdLst/>
                <a:ahLst/>
                <a:cxnLst/>
                <a:rect l="l" t="t" r="r" b="b"/>
                <a:pathLst>
                  <a:path w="351332" h="40073">
                    <a:moveTo>
                      <a:pt x="0" y="0"/>
                    </a:moveTo>
                    <a:lnTo>
                      <a:pt x="351332" y="0"/>
                    </a:lnTo>
                    <a:lnTo>
                      <a:pt x="351332" y="40073"/>
                    </a:lnTo>
                    <a:lnTo>
                      <a:pt x="0" y="40073"/>
                    </a:lnTo>
                    <a:close/>
                  </a:path>
                </a:pathLst>
              </a:custGeom>
              <a:solidFill>
                <a:srgbClr val="D06624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351332" cy="781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0" name="TextBox 9"/>
          <p:cNvSpPr txBox="1"/>
          <p:nvPr/>
        </p:nvSpPr>
        <p:spPr>
          <a:xfrm>
            <a:off x="3071770" y="2714608"/>
            <a:ext cx="141447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Times New Roman" pitchFamily="18" charset="0"/>
                <a:cs typeface="Times New Roman" pitchFamily="18" charset="0"/>
              </a:rPr>
              <a:t>KEC_AI_BRIGHTRED@DRAVIDIANLANGTECH 2025: MULTIMODAL HATE SPEECH DETECTION IN DRAVIDIAN LANGUAGES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87140" y="5786442"/>
            <a:ext cx="6572296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Times New Roman" pitchFamily="18" charset="0"/>
                <a:cs typeface="Times New Roman" pitchFamily="18" charset="0"/>
              </a:rPr>
              <a:t>AUTHORS</a:t>
            </a:r>
          </a:p>
          <a:p>
            <a:r>
              <a:rPr lang="en-US" sz="3000" dirty="0" err="1">
                <a:latin typeface="Times New Roman" pitchFamily="18" charset="0"/>
                <a:cs typeface="Times New Roman" pitchFamily="18" charset="0"/>
              </a:rPr>
              <a:t>Kogilavani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dirty="0" err="1">
                <a:latin typeface="Times New Roman" pitchFamily="18" charset="0"/>
                <a:cs typeface="Times New Roman" pitchFamily="18" charset="0"/>
              </a:rPr>
              <a:t>Shanmugavadivel</a:t>
            </a:r>
            <a:endParaRPr lang="en-US" sz="3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000" dirty="0" err="1">
                <a:latin typeface="Times New Roman" pitchFamily="18" charset="0"/>
                <a:cs typeface="Times New Roman" pitchFamily="18" charset="0"/>
              </a:rPr>
              <a:t>Malliga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 Subramanian</a:t>
            </a:r>
          </a:p>
          <a:p>
            <a:r>
              <a:rPr lang="en-US" sz="3000" dirty="0" err="1">
                <a:latin typeface="Times New Roman" pitchFamily="18" charset="0"/>
                <a:cs typeface="Times New Roman" pitchFamily="18" charset="0"/>
              </a:rPr>
              <a:t>Nishdharani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 P</a:t>
            </a:r>
          </a:p>
          <a:p>
            <a:r>
              <a:rPr lang="en-US" sz="3000" dirty="0" err="1">
                <a:latin typeface="Times New Roman" pitchFamily="18" charset="0"/>
                <a:cs typeface="Times New Roman" pitchFamily="18" charset="0"/>
              </a:rPr>
              <a:t>Santhiya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 E</a:t>
            </a:r>
          </a:p>
          <a:p>
            <a:r>
              <a:rPr lang="en-US" sz="3000" dirty="0" err="1">
                <a:latin typeface="Times New Roman" pitchFamily="18" charset="0"/>
                <a:cs typeface="Times New Roman" pitchFamily="18" charset="0"/>
              </a:rPr>
              <a:t>Yaswanth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 Raj E</a:t>
            </a:r>
          </a:p>
          <a:p>
            <a:endParaRPr lang="en-US" sz="3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1506" y="2143104"/>
            <a:ext cx="7172380" cy="785818"/>
          </a:xfrm>
        </p:spPr>
        <p:txBody>
          <a:bodyPr>
            <a:noAutofit/>
          </a:bodyPr>
          <a:lstStyle/>
          <a:p>
            <a:pPr algn="l"/>
            <a:r>
              <a:rPr lang="en-US" sz="4800" b="1" dirty="0">
                <a:latin typeface="Times New Roman" pitchFamily="18" charset="0"/>
                <a:cs typeface="Times New Roman" pitchFamily="18" charset="0"/>
              </a:rPr>
              <a:t>GOALS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4382" y="3428988"/>
            <a:ext cx="15644922" cy="2209812"/>
          </a:xfrm>
        </p:spPr>
        <p:txBody>
          <a:bodyPr>
            <a:no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US" sz="4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To detect hate speech across Tamil, Telugu, and Malayalam languages using both text and audio data.</a:t>
            </a:r>
          </a:p>
          <a:p>
            <a:pPr algn="just">
              <a:buFont typeface="Arial" pitchFamily="34" charset="0"/>
              <a:buChar char="•"/>
            </a:pPr>
            <a:r>
              <a:rPr lang="en-US" sz="4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To enhance classification accuracy through feature fusion and optimized model selection.</a:t>
            </a:r>
          </a:p>
          <a:p>
            <a:pPr algn="just">
              <a:buFont typeface="Arial" pitchFamily="34" charset="0"/>
              <a:buChar char="•"/>
            </a:pPr>
            <a:r>
              <a:rPr lang="en-US" sz="4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To participate in the </a:t>
            </a:r>
            <a:r>
              <a:rPr lang="en-US" sz="40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DravidianLangTech@NAACL</a:t>
            </a:r>
            <a:r>
              <a:rPr lang="en-US" sz="4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2025 shared task on multimodal social media analysis.</a:t>
            </a:r>
          </a:p>
        </p:txBody>
      </p:sp>
      <p:grpSp>
        <p:nvGrpSpPr>
          <p:cNvPr id="4" name="Group 2"/>
          <p:cNvGrpSpPr/>
          <p:nvPr/>
        </p:nvGrpSpPr>
        <p:grpSpPr>
          <a:xfrm>
            <a:off x="1142944" y="1714476"/>
            <a:ext cx="2500330" cy="142876"/>
            <a:chOff x="0" y="0"/>
            <a:chExt cx="3557239" cy="202870"/>
          </a:xfrm>
        </p:grpSpPr>
        <p:grpSp>
          <p:nvGrpSpPr>
            <p:cNvPr id="5" name="Group 3"/>
            <p:cNvGrpSpPr/>
            <p:nvPr/>
          </p:nvGrpSpPr>
          <p:grpSpPr>
            <a:xfrm>
              <a:off x="0" y="-192882"/>
              <a:ext cx="1778619" cy="395752"/>
              <a:chOff x="0" y="-38100"/>
              <a:chExt cx="351332" cy="78173"/>
            </a:xfrm>
          </p:grpSpPr>
          <p:sp>
            <p:nvSpPr>
              <p:cNvPr id="9" name="Freeform 8"/>
              <p:cNvSpPr/>
              <p:nvPr/>
            </p:nvSpPr>
            <p:spPr>
              <a:xfrm>
                <a:off x="0" y="0"/>
                <a:ext cx="351332" cy="40073"/>
              </a:xfrm>
              <a:custGeom>
                <a:avLst/>
                <a:gdLst/>
                <a:ahLst/>
                <a:cxnLst/>
                <a:rect l="l" t="t" r="r" b="b"/>
                <a:pathLst>
                  <a:path w="351332" h="40073">
                    <a:moveTo>
                      <a:pt x="0" y="0"/>
                    </a:moveTo>
                    <a:lnTo>
                      <a:pt x="351332" y="0"/>
                    </a:lnTo>
                    <a:lnTo>
                      <a:pt x="351332" y="40073"/>
                    </a:lnTo>
                    <a:lnTo>
                      <a:pt x="0" y="40073"/>
                    </a:lnTo>
                    <a:close/>
                  </a:path>
                </a:pathLst>
              </a:custGeom>
              <a:solidFill>
                <a:srgbClr val="24817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0" name="TextBox 9"/>
              <p:cNvSpPr txBox="1"/>
              <p:nvPr/>
            </p:nvSpPr>
            <p:spPr>
              <a:xfrm>
                <a:off x="0" y="-38100"/>
                <a:ext cx="351332" cy="781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778619" y="-192882"/>
              <a:ext cx="1778619" cy="395752"/>
              <a:chOff x="0" y="-38100"/>
              <a:chExt cx="351332" cy="78173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351332" cy="40073"/>
              </a:xfrm>
              <a:custGeom>
                <a:avLst/>
                <a:gdLst/>
                <a:ahLst/>
                <a:cxnLst/>
                <a:rect l="l" t="t" r="r" b="b"/>
                <a:pathLst>
                  <a:path w="351332" h="40073">
                    <a:moveTo>
                      <a:pt x="0" y="0"/>
                    </a:moveTo>
                    <a:lnTo>
                      <a:pt x="351332" y="0"/>
                    </a:lnTo>
                    <a:lnTo>
                      <a:pt x="351332" y="40073"/>
                    </a:lnTo>
                    <a:lnTo>
                      <a:pt x="0" y="40073"/>
                    </a:lnTo>
                    <a:close/>
                  </a:path>
                </a:pathLst>
              </a:custGeom>
              <a:solidFill>
                <a:srgbClr val="D06624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351332" cy="781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1506" y="1928790"/>
            <a:ext cx="7386694" cy="1143008"/>
          </a:xfrm>
        </p:spPr>
        <p:txBody>
          <a:bodyPr>
            <a:normAutofit/>
          </a:bodyPr>
          <a:lstStyle/>
          <a:p>
            <a:pPr algn="l"/>
            <a:r>
              <a:rPr lang="en-US" sz="4800" b="1" dirty="0">
                <a:latin typeface="Times New Roman" pitchFamily="18" charset="0"/>
                <a:cs typeface="Times New Roman" pitchFamily="18" charset="0"/>
              </a:rPr>
              <a:t>DATASET DESCRIPTION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4382" y="3428988"/>
            <a:ext cx="15644922" cy="5000660"/>
          </a:xfrm>
        </p:spPr>
        <p:txBody>
          <a:bodyPr>
            <a:noAutofit/>
          </a:bodyPr>
          <a:lstStyle/>
          <a:p>
            <a:pPr algn="l">
              <a:buFont typeface="Arial" pitchFamily="34" charset="0"/>
              <a:buChar char="•"/>
            </a:pPr>
            <a:r>
              <a:rPr lang="en-US" sz="4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Source: Social media platforms.</a:t>
            </a:r>
          </a:p>
          <a:p>
            <a:pPr algn="l">
              <a:buFont typeface="Arial" pitchFamily="34" charset="0"/>
              <a:buChar char="•"/>
            </a:pPr>
            <a:r>
              <a:rPr lang="en-US" sz="4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Languages: Tamil, Telugu, Malayalam.</a:t>
            </a:r>
          </a:p>
          <a:p>
            <a:pPr algn="l">
              <a:buFont typeface="Arial" pitchFamily="34" charset="0"/>
              <a:buChar char="•"/>
            </a:pPr>
            <a:r>
              <a:rPr lang="en-US" sz="4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Modalities: Text and Audio</a:t>
            </a:r>
          </a:p>
          <a:p>
            <a:pPr algn="l">
              <a:buFont typeface="Arial" pitchFamily="34" charset="0"/>
              <a:buChar char="•"/>
            </a:pPr>
            <a:r>
              <a:rPr lang="en-US" sz="4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Two main classes: Hate and Non-Hate.</a:t>
            </a:r>
          </a:p>
          <a:p>
            <a:pPr algn="l">
              <a:buFont typeface="Arial" pitchFamily="34" charset="0"/>
              <a:buChar char="•"/>
            </a:pPr>
            <a:r>
              <a:rPr lang="en-US" sz="4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Hate subclasses: C (Personal defamation), G (Gender), P (Political),</a:t>
            </a:r>
          </a:p>
          <a:p>
            <a:pPr algn="l"/>
            <a:r>
              <a:rPr lang="en-US" sz="4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R (Religious).</a:t>
            </a:r>
          </a:p>
          <a:p>
            <a:pPr algn="l">
              <a:buFont typeface="Arial" pitchFamily="34" charset="0"/>
              <a:buChar char="•"/>
            </a:pPr>
            <a:endParaRPr lang="en-US" sz="4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buFont typeface="Arial" pitchFamily="34" charset="0"/>
              <a:buChar char="•"/>
            </a:pPr>
            <a:endParaRPr lang="en-US" sz="4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4" name="Group 2"/>
          <p:cNvGrpSpPr/>
          <p:nvPr/>
        </p:nvGrpSpPr>
        <p:grpSpPr>
          <a:xfrm>
            <a:off x="1142944" y="1714476"/>
            <a:ext cx="2500330" cy="142876"/>
            <a:chOff x="0" y="0"/>
            <a:chExt cx="3557239" cy="202870"/>
          </a:xfrm>
        </p:grpSpPr>
        <p:grpSp>
          <p:nvGrpSpPr>
            <p:cNvPr id="5" name="Group 3"/>
            <p:cNvGrpSpPr/>
            <p:nvPr/>
          </p:nvGrpSpPr>
          <p:grpSpPr>
            <a:xfrm>
              <a:off x="0" y="-192882"/>
              <a:ext cx="1778619" cy="395752"/>
              <a:chOff x="0" y="-38100"/>
              <a:chExt cx="351332" cy="78173"/>
            </a:xfrm>
          </p:grpSpPr>
          <p:sp>
            <p:nvSpPr>
              <p:cNvPr id="9" name="Freeform 8"/>
              <p:cNvSpPr/>
              <p:nvPr/>
            </p:nvSpPr>
            <p:spPr>
              <a:xfrm>
                <a:off x="0" y="0"/>
                <a:ext cx="351332" cy="40073"/>
              </a:xfrm>
              <a:custGeom>
                <a:avLst/>
                <a:gdLst/>
                <a:ahLst/>
                <a:cxnLst/>
                <a:rect l="l" t="t" r="r" b="b"/>
                <a:pathLst>
                  <a:path w="351332" h="40073">
                    <a:moveTo>
                      <a:pt x="0" y="0"/>
                    </a:moveTo>
                    <a:lnTo>
                      <a:pt x="351332" y="0"/>
                    </a:lnTo>
                    <a:lnTo>
                      <a:pt x="351332" y="40073"/>
                    </a:lnTo>
                    <a:lnTo>
                      <a:pt x="0" y="40073"/>
                    </a:lnTo>
                    <a:close/>
                  </a:path>
                </a:pathLst>
              </a:custGeom>
              <a:solidFill>
                <a:srgbClr val="24817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0" name="TextBox 9"/>
              <p:cNvSpPr txBox="1"/>
              <p:nvPr/>
            </p:nvSpPr>
            <p:spPr>
              <a:xfrm>
                <a:off x="0" y="-38100"/>
                <a:ext cx="351332" cy="781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778619" y="-192882"/>
              <a:ext cx="1778619" cy="395752"/>
              <a:chOff x="0" y="-38100"/>
              <a:chExt cx="351332" cy="78173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351332" cy="40073"/>
              </a:xfrm>
              <a:custGeom>
                <a:avLst/>
                <a:gdLst/>
                <a:ahLst/>
                <a:cxnLst/>
                <a:rect l="l" t="t" r="r" b="b"/>
                <a:pathLst>
                  <a:path w="351332" h="40073">
                    <a:moveTo>
                      <a:pt x="0" y="0"/>
                    </a:moveTo>
                    <a:lnTo>
                      <a:pt x="351332" y="0"/>
                    </a:lnTo>
                    <a:lnTo>
                      <a:pt x="351332" y="40073"/>
                    </a:lnTo>
                    <a:lnTo>
                      <a:pt x="0" y="40073"/>
                    </a:lnTo>
                    <a:close/>
                  </a:path>
                </a:pathLst>
              </a:custGeom>
              <a:solidFill>
                <a:srgbClr val="D06624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351332" cy="781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071506" y="2071666"/>
            <a:ext cx="102156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Times New Roman" pitchFamily="18" charset="0"/>
                <a:cs typeface="Times New Roman" pitchFamily="18" charset="0"/>
              </a:rPr>
              <a:t>METHODOLOGY</a:t>
            </a:r>
          </a:p>
        </p:txBody>
      </p:sp>
      <p:grpSp>
        <p:nvGrpSpPr>
          <p:cNvPr id="25" name="Group 2"/>
          <p:cNvGrpSpPr/>
          <p:nvPr/>
        </p:nvGrpSpPr>
        <p:grpSpPr>
          <a:xfrm>
            <a:off x="1142944" y="1714476"/>
            <a:ext cx="2500330" cy="142876"/>
            <a:chOff x="0" y="0"/>
            <a:chExt cx="3557239" cy="202870"/>
          </a:xfrm>
        </p:grpSpPr>
        <p:grpSp>
          <p:nvGrpSpPr>
            <p:cNvPr id="26" name="Group 3"/>
            <p:cNvGrpSpPr/>
            <p:nvPr/>
          </p:nvGrpSpPr>
          <p:grpSpPr>
            <a:xfrm>
              <a:off x="0" y="-192882"/>
              <a:ext cx="1778619" cy="395752"/>
              <a:chOff x="0" y="-38100"/>
              <a:chExt cx="351332" cy="78173"/>
            </a:xfrm>
          </p:grpSpPr>
          <p:sp>
            <p:nvSpPr>
              <p:cNvPr id="30" name="Freeform 29"/>
              <p:cNvSpPr/>
              <p:nvPr/>
            </p:nvSpPr>
            <p:spPr>
              <a:xfrm>
                <a:off x="0" y="0"/>
                <a:ext cx="351332" cy="40073"/>
              </a:xfrm>
              <a:custGeom>
                <a:avLst/>
                <a:gdLst/>
                <a:ahLst/>
                <a:cxnLst/>
                <a:rect l="l" t="t" r="r" b="b"/>
                <a:pathLst>
                  <a:path w="351332" h="40073">
                    <a:moveTo>
                      <a:pt x="0" y="0"/>
                    </a:moveTo>
                    <a:lnTo>
                      <a:pt x="351332" y="0"/>
                    </a:lnTo>
                    <a:lnTo>
                      <a:pt x="351332" y="40073"/>
                    </a:lnTo>
                    <a:lnTo>
                      <a:pt x="0" y="40073"/>
                    </a:lnTo>
                    <a:close/>
                  </a:path>
                </a:pathLst>
              </a:custGeom>
              <a:solidFill>
                <a:srgbClr val="24817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1" name="TextBox 30"/>
              <p:cNvSpPr txBox="1"/>
              <p:nvPr/>
            </p:nvSpPr>
            <p:spPr>
              <a:xfrm>
                <a:off x="0" y="-38100"/>
                <a:ext cx="351332" cy="781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7" name="Group 6"/>
            <p:cNvGrpSpPr/>
            <p:nvPr/>
          </p:nvGrpSpPr>
          <p:grpSpPr>
            <a:xfrm>
              <a:off x="1778619" y="-192882"/>
              <a:ext cx="1778619" cy="395752"/>
              <a:chOff x="0" y="-38100"/>
              <a:chExt cx="351332" cy="78173"/>
            </a:xfrm>
          </p:grpSpPr>
          <p:sp>
            <p:nvSpPr>
              <p:cNvPr id="28" name="Freeform 7"/>
              <p:cNvSpPr/>
              <p:nvPr/>
            </p:nvSpPr>
            <p:spPr>
              <a:xfrm>
                <a:off x="0" y="0"/>
                <a:ext cx="351332" cy="40073"/>
              </a:xfrm>
              <a:custGeom>
                <a:avLst/>
                <a:gdLst/>
                <a:ahLst/>
                <a:cxnLst/>
                <a:rect l="l" t="t" r="r" b="b"/>
                <a:pathLst>
                  <a:path w="351332" h="40073">
                    <a:moveTo>
                      <a:pt x="0" y="0"/>
                    </a:moveTo>
                    <a:lnTo>
                      <a:pt x="351332" y="0"/>
                    </a:lnTo>
                    <a:lnTo>
                      <a:pt x="351332" y="40073"/>
                    </a:lnTo>
                    <a:lnTo>
                      <a:pt x="0" y="40073"/>
                    </a:lnTo>
                    <a:close/>
                  </a:path>
                </a:pathLst>
              </a:custGeom>
              <a:solidFill>
                <a:srgbClr val="D06624"/>
              </a:solidFill>
            </p:spPr>
          </p:sp>
          <p:sp>
            <p:nvSpPr>
              <p:cNvPr id="29" name="TextBox 8"/>
              <p:cNvSpPr txBox="1"/>
              <p:nvPr/>
            </p:nvSpPr>
            <p:spPr>
              <a:xfrm>
                <a:off x="0" y="-38100"/>
                <a:ext cx="351332" cy="781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32" name="TextBox 31"/>
          <p:cNvSpPr txBox="1"/>
          <p:nvPr/>
        </p:nvSpPr>
        <p:spPr>
          <a:xfrm>
            <a:off x="1142944" y="3357550"/>
            <a:ext cx="1578779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Cleaned and normalized both text and audio data.</a:t>
            </a:r>
          </a:p>
          <a:p>
            <a:pPr algn="just">
              <a:buFont typeface="Arial" pitchFamily="34" charset="0"/>
              <a:buChar char="•"/>
            </a:pP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Trained multiple models for each modality.</a:t>
            </a:r>
          </a:p>
          <a:p>
            <a:pPr algn="just">
              <a:buFont typeface="Arial" pitchFamily="34" charset="0"/>
              <a:buChar char="•"/>
            </a:pP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Random Forest achieved the best performance for text, and CNN outperformed others for audio data.</a:t>
            </a:r>
          </a:p>
          <a:p>
            <a:pPr algn="just">
              <a:buFont typeface="Arial" pitchFamily="34" charset="0"/>
              <a:buChar char="•"/>
            </a:pP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Combined predictions from Random Forest (text) and CNN (audio) for final classification, evaluated using accuracy, precision, recall, and F1 score.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0068" y="2071666"/>
            <a:ext cx="7343772" cy="857257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itchFamily="18" charset="0"/>
                <a:cs typeface="Times New Roman" pitchFamily="18" charset="0"/>
              </a:rPr>
              <a:t>FLOW DIAGRAM</a:t>
            </a:r>
          </a:p>
        </p:txBody>
      </p:sp>
      <p:grpSp>
        <p:nvGrpSpPr>
          <p:cNvPr id="11" name="Group 2"/>
          <p:cNvGrpSpPr/>
          <p:nvPr/>
        </p:nvGrpSpPr>
        <p:grpSpPr>
          <a:xfrm>
            <a:off x="1142944" y="1714476"/>
            <a:ext cx="2500330" cy="142876"/>
            <a:chOff x="0" y="0"/>
            <a:chExt cx="3557239" cy="202870"/>
          </a:xfrm>
        </p:grpSpPr>
        <p:grpSp>
          <p:nvGrpSpPr>
            <p:cNvPr id="12" name="Group 3"/>
            <p:cNvGrpSpPr/>
            <p:nvPr/>
          </p:nvGrpSpPr>
          <p:grpSpPr>
            <a:xfrm>
              <a:off x="0" y="-192882"/>
              <a:ext cx="1778619" cy="395752"/>
              <a:chOff x="0" y="-38100"/>
              <a:chExt cx="351332" cy="78173"/>
            </a:xfrm>
          </p:grpSpPr>
          <p:sp>
            <p:nvSpPr>
              <p:cNvPr id="16" name="Freeform 15"/>
              <p:cNvSpPr/>
              <p:nvPr/>
            </p:nvSpPr>
            <p:spPr>
              <a:xfrm>
                <a:off x="0" y="0"/>
                <a:ext cx="351332" cy="40073"/>
              </a:xfrm>
              <a:custGeom>
                <a:avLst/>
                <a:gdLst/>
                <a:ahLst/>
                <a:cxnLst/>
                <a:rect l="l" t="t" r="r" b="b"/>
                <a:pathLst>
                  <a:path w="351332" h="40073">
                    <a:moveTo>
                      <a:pt x="0" y="0"/>
                    </a:moveTo>
                    <a:lnTo>
                      <a:pt x="351332" y="0"/>
                    </a:lnTo>
                    <a:lnTo>
                      <a:pt x="351332" y="40073"/>
                    </a:lnTo>
                    <a:lnTo>
                      <a:pt x="0" y="40073"/>
                    </a:lnTo>
                    <a:close/>
                  </a:path>
                </a:pathLst>
              </a:custGeom>
              <a:solidFill>
                <a:srgbClr val="24817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7" name="TextBox 16"/>
              <p:cNvSpPr txBox="1"/>
              <p:nvPr/>
            </p:nvSpPr>
            <p:spPr>
              <a:xfrm>
                <a:off x="0" y="-38100"/>
                <a:ext cx="351332" cy="781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3" name="Group 6"/>
            <p:cNvGrpSpPr/>
            <p:nvPr/>
          </p:nvGrpSpPr>
          <p:grpSpPr>
            <a:xfrm>
              <a:off x="1778619" y="-192882"/>
              <a:ext cx="1778619" cy="395752"/>
              <a:chOff x="0" y="-38100"/>
              <a:chExt cx="351332" cy="78173"/>
            </a:xfrm>
          </p:grpSpPr>
          <p:sp>
            <p:nvSpPr>
              <p:cNvPr id="14" name="Freeform 7"/>
              <p:cNvSpPr/>
              <p:nvPr/>
            </p:nvSpPr>
            <p:spPr>
              <a:xfrm>
                <a:off x="0" y="0"/>
                <a:ext cx="351332" cy="40073"/>
              </a:xfrm>
              <a:custGeom>
                <a:avLst/>
                <a:gdLst/>
                <a:ahLst/>
                <a:cxnLst/>
                <a:rect l="l" t="t" r="r" b="b"/>
                <a:pathLst>
                  <a:path w="351332" h="40073">
                    <a:moveTo>
                      <a:pt x="0" y="0"/>
                    </a:moveTo>
                    <a:lnTo>
                      <a:pt x="351332" y="0"/>
                    </a:lnTo>
                    <a:lnTo>
                      <a:pt x="351332" y="40073"/>
                    </a:lnTo>
                    <a:lnTo>
                      <a:pt x="0" y="40073"/>
                    </a:lnTo>
                    <a:close/>
                  </a:path>
                </a:pathLst>
              </a:custGeom>
              <a:solidFill>
                <a:srgbClr val="D06624"/>
              </a:solidFill>
            </p:spPr>
          </p:sp>
          <p:sp>
            <p:nvSpPr>
              <p:cNvPr id="15" name="TextBox 8"/>
              <p:cNvSpPr txBox="1"/>
              <p:nvPr/>
            </p:nvSpPr>
            <p:spPr>
              <a:xfrm>
                <a:off x="0" y="-38100"/>
                <a:ext cx="351332" cy="781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64C3AC47-7507-5616-BAE6-64C2D7449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272" y="2767236"/>
            <a:ext cx="10873208" cy="61047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2944" y="2000228"/>
            <a:ext cx="7315256" cy="928694"/>
          </a:xfrm>
        </p:spPr>
        <p:txBody>
          <a:bodyPr>
            <a:noAutofit/>
          </a:bodyPr>
          <a:lstStyle/>
          <a:p>
            <a:pPr algn="l"/>
            <a:br>
              <a:rPr lang="en-US" sz="4800" b="1" dirty="0">
                <a:latin typeface="Times New Roman" pitchFamily="18" charset="0"/>
                <a:cs typeface="Times New Roman" pitchFamily="18" charset="0"/>
              </a:rPr>
            </a:b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2944" y="3357550"/>
            <a:ext cx="15644922" cy="5674382"/>
          </a:xfrm>
        </p:spPr>
        <p:txBody>
          <a:bodyPr>
            <a:no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US" sz="4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Random Forest model effectively captured semantic features for text, achieving high accuracy, while the CNN model extracted key features from audio signals, also yielding high accuracy.</a:t>
            </a:r>
          </a:p>
          <a:p>
            <a:pPr algn="just">
              <a:buFont typeface="Arial" pitchFamily="34" charset="0"/>
              <a:buChar char="•"/>
            </a:pPr>
            <a:r>
              <a:rPr lang="en-US" sz="4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Complex models (Capsule, </a:t>
            </a:r>
            <a:r>
              <a:rPr lang="en-US" sz="40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BiLSTM</a:t>
            </a:r>
            <a:r>
              <a:rPr lang="en-US" sz="4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40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ConvLSTM</a:t>
            </a:r>
            <a:r>
              <a:rPr lang="en-US" sz="4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 showed </a:t>
            </a:r>
            <a:r>
              <a:rPr lang="en-US" sz="40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overfitting</a:t>
            </a:r>
            <a:r>
              <a:rPr lang="en-US" sz="4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and lower generalization.</a:t>
            </a:r>
          </a:p>
          <a:p>
            <a:pPr algn="just">
              <a:buFont typeface="Arial" pitchFamily="34" charset="0"/>
              <a:buChar char="•"/>
            </a:pPr>
            <a:r>
              <a:rPr lang="en-US" sz="4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Fusion strategy can be enhanced using transformer-based approaches.</a:t>
            </a:r>
          </a:p>
          <a:p>
            <a:pPr algn="just">
              <a:buFont typeface="Arial" pitchFamily="34" charset="0"/>
              <a:buChar char="•"/>
            </a:pPr>
            <a:r>
              <a:rPr lang="en-US" sz="4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Low F1-scores in final evaluations highlight need for better optimization and feature alignment.</a:t>
            </a:r>
          </a:p>
          <a:p>
            <a:pPr algn="l">
              <a:buFont typeface="Arial" pitchFamily="34" charset="0"/>
              <a:buChar char="•"/>
            </a:pPr>
            <a:endParaRPr lang="en-US" sz="4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1" name="Group 2"/>
          <p:cNvGrpSpPr/>
          <p:nvPr/>
        </p:nvGrpSpPr>
        <p:grpSpPr>
          <a:xfrm>
            <a:off x="1142944" y="1714476"/>
            <a:ext cx="2500330" cy="142876"/>
            <a:chOff x="0" y="0"/>
            <a:chExt cx="3557239" cy="202870"/>
          </a:xfrm>
        </p:grpSpPr>
        <p:grpSp>
          <p:nvGrpSpPr>
            <p:cNvPr id="12" name="Group 3"/>
            <p:cNvGrpSpPr/>
            <p:nvPr/>
          </p:nvGrpSpPr>
          <p:grpSpPr>
            <a:xfrm>
              <a:off x="0" y="-192882"/>
              <a:ext cx="1778619" cy="395752"/>
              <a:chOff x="0" y="-38100"/>
              <a:chExt cx="351332" cy="78173"/>
            </a:xfrm>
          </p:grpSpPr>
          <p:sp>
            <p:nvSpPr>
              <p:cNvPr id="16" name="Freeform 15"/>
              <p:cNvSpPr/>
              <p:nvPr/>
            </p:nvSpPr>
            <p:spPr>
              <a:xfrm>
                <a:off x="0" y="0"/>
                <a:ext cx="351332" cy="40073"/>
              </a:xfrm>
              <a:custGeom>
                <a:avLst/>
                <a:gdLst/>
                <a:ahLst/>
                <a:cxnLst/>
                <a:rect l="l" t="t" r="r" b="b"/>
                <a:pathLst>
                  <a:path w="351332" h="40073">
                    <a:moveTo>
                      <a:pt x="0" y="0"/>
                    </a:moveTo>
                    <a:lnTo>
                      <a:pt x="351332" y="0"/>
                    </a:lnTo>
                    <a:lnTo>
                      <a:pt x="351332" y="40073"/>
                    </a:lnTo>
                    <a:lnTo>
                      <a:pt x="0" y="40073"/>
                    </a:lnTo>
                    <a:close/>
                  </a:path>
                </a:pathLst>
              </a:custGeom>
              <a:solidFill>
                <a:srgbClr val="24817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7" name="TextBox 16"/>
              <p:cNvSpPr txBox="1"/>
              <p:nvPr/>
            </p:nvSpPr>
            <p:spPr>
              <a:xfrm>
                <a:off x="0" y="-38100"/>
                <a:ext cx="351332" cy="781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3" name="Group 6"/>
            <p:cNvGrpSpPr/>
            <p:nvPr/>
          </p:nvGrpSpPr>
          <p:grpSpPr>
            <a:xfrm>
              <a:off x="1778619" y="-192882"/>
              <a:ext cx="1778619" cy="395752"/>
              <a:chOff x="0" y="-38100"/>
              <a:chExt cx="351332" cy="78173"/>
            </a:xfrm>
          </p:grpSpPr>
          <p:sp>
            <p:nvSpPr>
              <p:cNvPr id="14" name="Freeform 7"/>
              <p:cNvSpPr/>
              <p:nvPr/>
            </p:nvSpPr>
            <p:spPr>
              <a:xfrm>
                <a:off x="0" y="0"/>
                <a:ext cx="351332" cy="40073"/>
              </a:xfrm>
              <a:custGeom>
                <a:avLst/>
                <a:gdLst/>
                <a:ahLst/>
                <a:cxnLst/>
                <a:rect l="l" t="t" r="r" b="b"/>
                <a:pathLst>
                  <a:path w="351332" h="40073">
                    <a:moveTo>
                      <a:pt x="0" y="0"/>
                    </a:moveTo>
                    <a:lnTo>
                      <a:pt x="351332" y="0"/>
                    </a:lnTo>
                    <a:lnTo>
                      <a:pt x="351332" y="40073"/>
                    </a:lnTo>
                    <a:lnTo>
                      <a:pt x="0" y="40073"/>
                    </a:lnTo>
                    <a:close/>
                  </a:path>
                </a:pathLst>
              </a:custGeom>
              <a:solidFill>
                <a:srgbClr val="D06624"/>
              </a:solidFill>
            </p:spPr>
          </p:sp>
          <p:sp>
            <p:nvSpPr>
              <p:cNvPr id="15" name="TextBox 8"/>
              <p:cNvSpPr txBox="1"/>
              <p:nvPr/>
            </p:nvSpPr>
            <p:spPr>
              <a:xfrm>
                <a:off x="0" y="-38100"/>
                <a:ext cx="351332" cy="781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25" name="TextBox 24"/>
          <p:cNvSpPr txBox="1"/>
          <p:nvPr/>
        </p:nvSpPr>
        <p:spPr>
          <a:xfrm>
            <a:off x="1000068" y="2071666"/>
            <a:ext cx="70009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Times New Roman" pitchFamily="18" charset="0"/>
                <a:cs typeface="Times New Roman" pitchFamily="18" charset="0"/>
              </a:rPr>
              <a:t>RESULTS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0068" y="2071666"/>
            <a:ext cx="7386694" cy="857256"/>
          </a:xfrm>
        </p:spPr>
        <p:txBody>
          <a:bodyPr>
            <a:normAutofit/>
          </a:bodyPr>
          <a:lstStyle/>
          <a:p>
            <a:pPr algn="l"/>
            <a:r>
              <a:rPr lang="en-US" sz="4800" b="1" dirty="0">
                <a:latin typeface="Times New Roman" pitchFamily="18" charset="0"/>
                <a:cs typeface="Times New Roman" pitchFamily="18" charset="0"/>
              </a:rPr>
              <a:t>CONCLUSION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2944" y="3428988"/>
            <a:ext cx="15144856" cy="2209812"/>
          </a:xfrm>
        </p:spPr>
        <p:txBody>
          <a:bodyPr>
            <a:no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US" sz="4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paper successfully demonstrates that model fusion using Random Forest (text) and CNN (audio) improves hate speech detection in Dravidian languages.</a:t>
            </a:r>
          </a:p>
          <a:p>
            <a:pPr algn="just">
              <a:buFont typeface="Arial" pitchFamily="34" charset="0"/>
              <a:buChar char="•"/>
            </a:pPr>
            <a:r>
              <a:rPr lang="en-US" sz="4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Simpler models (like RF and CNN) outperformed more complex deep learning models in this multilingual, multimodal setup.</a:t>
            </a:r>
          </a:p>
          <a:p>
            <a:pPr algn="just">
              <a:buFont typeface="Arial" pitchFamily="34" charset="0"/>
              <a:buChar char="•"/>
            </a:pPr>
            <a:r>
              <a:rPr lang="en-US" sz="4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Future work can focus on transformer-based fusion, larger datasets, and end-to-end multimodal architectures.</a:t>
            </a:r>
          </a:p>
          <a:p>
            <a:pPr algn="l"/>
            <a:endParaRPr lang="en-US" sz="4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buFont typeface="Arial" pitchFamily="34" charset="0"/>
              <a:buChar char="•"/>
            </a:pPr>
            <a:endParaRPr lang="en-US" sz="4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buFont typeface="Arial" pitchFamily="34" charset="0"/>
              <a:buChar char="•"/>
            </a:pPr>
            <a:endParaRPr lang="en-US" sz="4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1" name="Group 2"/>
          <p:cNvGrpSpPr/>
          <p:nvPr/>
        </p:nvGrpSpPr>
        <p:grpSpPr>
          <a:xfrm>
            <a:off x="1142944" y="1714476"/>
            <a:ext cx="2500330" cy="142876"/>
            <a:chOff x="0" y="0"/>
            <a:chExt cx="3557239" cy="202870"/>
          </a:xfrm>
        </p:grpSpPr>
        <p:grpSp>
          <p:nvGrpSpPr>
            <p:cNvPr id="12" name="Group 3"/>
            <p:cNvGrpSpPr/>
            <p:nvPr/>
          </p:nvGrpSpPr>
          <p:grpSpPr>
            <a:xfrm>
              <a:off x="0" y="-192882"/>
              <a:ext cx="1778619" cy="395752"/>
              <a:chOff x="0" y="-38100"/>
              <a:chExt cx="351332" cy="78173"/>
            </a:xfrm>
          </p:grpSpPr>
          <p:sp>
            <p:nvSpPr>
              <p:cNvPr id="16" name="Freeform 15"/>
              <p:cNvSpPr/>
              <p:nvPr/>
            </p:nvSpPr>
            <p:spPr>
              <a:xfrm>
                <a:off x="0" y="0"/>
                <a:ext cx="351332" cy="40073"/>
              </a:xfrm>
              <a:custGeom>
                <a:avLst/>
                <a:gdLst/>
                <a:ahLst/>
                <a:cxnLst/>
                <a:rect l="l" t="t" r="r" b="b"/>
                <a:pathLst>
                  <a:path w="351332" h="40073">
                    <a:moveTo>
                      <a:pt x="0" y="0"/>
                    </a:moveTo>
                    <a:lnTo>
                      <a:pt x="351332" y="0"/>
                    </a:lnTo>
                    <a:lnTo>
                      <a:pt x="351332" y="40073"/>
                    </a:lnTo>
                    <a:lnTo>
                      <a:pt x="0" y="40073"/>
                    </a:lnTo>
                    <a:close/>
                  </a:path>
                </a:pathLst>
              </a:custGeom>
              <a:solidFill>
                <a:srgbClr val="24817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7" name="TextBox 16"/>
              <p:cNvSpPr txBox="1"/>
              <p:nvPr/>
            </p:nvSpPr>
            <p:spPr>
              <a:xfrm>
                <a:off x="0" y="-38100"/>
                <a:ext cx="351332" cy="781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3" name="Group 6"/>
            <p:cNvGrpSpPr/>
            <p:nvPr/>
          </p:nvGrpSpPr>
          <p:grpSpPr>
            <a:xfrm>
              <a:off x="1778619" y="-192882"/>
              <a:ext cx="1778619" cy="395752"/>
              <a:chOff x="0" y="-38100"/>
              <a:chExt cx="351332" cy="78173"/>
            </a:xfrm>
          </p:grpSpPr>
          <p:sp>
            <p:nvSpPr>
              <p:cNvPr id="14" name="Freeform 7"/>
              <p:cNvSpPr/>
              <p:nvPr/>
            </p:nvSpPr>
            <p:spPr>
              <a:xfrm>
                <a:off x="0" y="0"/>
                <a:ext cx="351332" cy="40073"/>
              </a:xfrm>
              <a:custGeom>
                <a:avLst/>
                <a:gdLst/>
                <a:ahLst/>
                <a:cxnLst/>
                <a:rect l="l" t="t" r="r" b="b"/>
                <a:pathLst>
                  <a:path w="351332" h="40073">
                    <a:moveTo>
                      <a:pt x="0" y="0"/>
                    </a:moveTo>
                    <a:lnTo>
                      <a:pt x="351332" y="0"/>
                    </a:lnTo>
                    <a:lnTo>
                      <a:pt x="351332" y="40073"/>
                    </a:lnTo>
                    <a:lnTo>
                      <a:pt x="0" y="40073"/>
                    </a:lnTo>
                    <a:close/>
                  </a:path>
                </a:pathLst>
              </a:custGeom>
              <a:solidFill>
                <a:srgbClr val="D06624"/>
              </a:solidFill>
            </p:spPr>
          </p:sp>
          <p:sp>
            <p:nvSpPr>
              <p:cNvPr id="15" name="TextBox 8"/>
              <p:cNvSpPr txBox="1"/>
              <p:nvPr/>
            </p:nvSpPr>
            <p:spPr>
              <a:xfrm>
                <a:off x="0" y="-38100"/>
                <a:ext cx="351332" cy="781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326</Words>
  <Application>Microsoft Office PowerPoint</Application>
  <PresentationFormat>Custom</PresentationFormat>
  <Paragraphs>35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Times New Roman</vt:lpstr>
      <vt:lpstr>Calibri</vt:lpstr>
      <vt:lpstr>Arial</vt:lpstr>
      <vt:lpstr>Office Theme</vt:lpstr>
      <vt:lpstr>PowerPoint Presentation</vt:lpstr>
      <vt:lpstr>GOALS</vt:lpstr>
      <vt:lpstr>DATASET DESCRIPTION</vt:lpstr>
      <vt:lpstr>PowerPoint Presentation</vt:lpstr>
      <vt:lpstr>FLOW DIAGRAM</vt:lpstr>
      <vt:lpstr> 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SANTHIYA</dc:creator>
  <cp:lastModifiedBy>Nish .</cp:lastModifiedBy>
  <cp:revision>11</cp:revision>
  <dcterms:created xsi:type="dcterms:W3CDTF">2006-08-16T00:00:00Z</dcterms:created>
  <dcterms:modified xsi:type="dcterms:W3CDTF">2025-04-20T03:48:08Z</dcterms:modified>
  <dc:identifier>DAGk0LBjYrs</dc:identifier>
</cp:coreProperties>
</file>